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8" r:id="rId2"/>
  </p:sldMasterIdLst>
  <p:notesMasterIdLst>
    <p:notesMasterId r:id="rId15"/>
  </p:notesMasterIdLst>
  <p:sldIdLst>
    <p:sldId id="256" r:id="rId3"/>
    <p:sldId id="257" r:id="rId4"/>
    <p:sldId id="268" r:id="rId5"/>
    <p:sldId id="258" r:id="rId6"/>
    <p:sldId id="259" r:id="rId7"/>
    <p:sldId id="260" r:id="rId8"/>
    <p:sldId id="261" r:id="rId9"/>
    <p:sldId id="262" r:id="rId10"/>
    <p:sldId id="264" r:id="rId11"/>
    <p:sldId id="263" r:id="rId12"/>
    <p:sldId id="265" r:id="rId13"/>
    <p:sldId id="267" r:id="rId14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56" autoAdjust="0"/>
    <p:restoredTop sz="87464" autoAdjust="0"/>
  </p:normalViewPr>
  <p:slideViewPr>
    <p:cSldViewPr snapToGrid="0">
      <p:cViewPr varScale="1">
        <p:scale>
          <a:sx n="79" d="100"/>
          <a:sy n="79" d="100"/>
        </p:scale>
        <p:origin x="1360" y="-3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1AA44-4F90-4FAE-80BB-E33E8B5B7E99}" type="datetimeFigureOut">
              <a:rPr lang="fr-FR" smtClean="0"/>
              <a:t>23/11/2025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5EB0B2-9835-4713-A1C1-B737CD21506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333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EB0B2-9835-4713-A1C1-B737CD21506F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573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200000"/>
              </a:lnSpc>
              <a:buNone/>
            </a:pPr>
            <a:r>
              <a:rPr lang="fr-FR" dirty="0">
                <a:effectLst/>
              </a:rPr>
              <a:t>exemple concret du problème REST API Bibliothèque : </a:t>
            </a:r>
          </a:p>
          <a:p>
            <a:pPr>
              <a:lnSpc>
                <a:spcPct val="200000"/>
              </a:lnSpc>
              <a:buNone/>
            </a:pPr>
            <a:r>
              <a:rPr lang="fr-FR" dirty="0">
                <a:effectLst/>
              </a:rPr>
              <a:t>GET /</a:t>
            </a:r>
            <a:r>
              <a:rPr lang="fr-FR" dirty="0" err="1">
                <a:effectLst/>
              </a:rPr>
              <a:t>etudiants</a:t>
            </a:r>
            <a:r>
              <a:rPr lang="fr-FR" dirty="0">
                <a:effectLst/>
              </a:rPr>
              <a:t>/123 → { id, nom, email } </a:t>
            </a:r>
          </a:p>
          <a:p>
            <a:pPr>
              <a:lnSpc>
                <a:spcPct val="200000"/>
              </a:lnSpc>
              <a:buNone/>
            </a:pPr>
            <a:r>
              <a:rPr lang="fr-FR" dirty="0">
                <a:effectLst/>
              </a:rPr>
              <a:t>GET /</a:t>
            </a:r>
            <a:r>
              <a:rPr lang="fr-FR" dirty="0" err="1">
                <a:effectLst/>
              </a:rPr>
              <a:t>etudiants</a:t>
            </a:r>
            <a:r>
              <a:rPr lang="fr-FR" dirty="0">
                <a:effectLst/>
              </a:rPr>
              <a:t>/123/emprunts → liste d’emprunts </a:t>
            </a:r>
          </a:p>
          <a:p>
            <a:pPr>
              <a:lnSpc>
                <a:spcPct val="200000"/>
              </a:lnSpc>
              <a:buNone/>
            </a:pPr>
            <a:r>
              <a:rPr lang="fr-FR" dirty="0">
                <a:effectLst/>
              </a:rPr>
              <a:t>GET /emprunts/456/livre → détails du livre → </a:t>
            </a:r>
          </a:p>
          <a:p>
            <a:pPr>
              <a:lnSpc>
                <a:spcPct val="200000"/>
              </a:lnSpc>
              <a:buNone/>
            </a:pPr>
            <a:r>
              <a:rPr lang="fr-FR" dirty="0">
                <a:effectLst/>
              </a:rPr>
              <a:t>3 requêtes pour afficher "Étudiant + ses livres empruntés" → Mauvaise expérience mobile,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EB0B2-9835-4713-A1C1-B737CD21506F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9108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EB0B2-9835-4713-A1C1-B737CD21506F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75524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5EB0B2-9835-4713-A1C1-B737CD21506F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402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4143960" y="228600"/>
            <a:ext cx="4771080" cy="454428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15200" y="215640"/>
            <a:ext cx="3767400" cy="249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448520" y="419760"/>
            <a:ext cx="4162320" cy="416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5405040" y="166320"/>
            <a:ext cx="3510000" cy="129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533160" y="419760"/>
            <a:ext cx="4162320" cy="4162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228600" y="416520"/>
            <a:ext cx="2724120" cy="111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970160" y="2084760"/>
            <a:ext cx="639720" cy="4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title"/>
          </p:nvPr>
        </p:nvSpPr>
        <p:spPr>
          <a:xfrm>
            <a:off x="4970160" y="972720"/>
            <a:ext cx="639720" cy="41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title"/>
          </p:nvPr>
        </p:nvSpPr>
        <p:spPr>
          <a:xfrm>
            <a:off x="4970880" y="416520"/>
            <a:ext cx="638640" cy="41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title"/>
          </p:nvPr>
        </p:nvSpPr>
        <p:spPr>
          <a:xfrm>
            <a:off x="4970160" y="1528560"/>
            <a:ext cx="639720" cy="4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title"/>
          </p:nvPr>
        </p:nvSpPr>
        <p:spPr>
          <a:xfrm>
            <a:off x="4970160" y="3197160"/>
            <a:ext cx="639720" cy="417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7"/>
          <p:cNvSpPr>
            <a:spLocks noGrp="1"/>
          </p:cNvSpPr>
          <p:nvPr>
            <p:ph type="title"/>
          </p:nvPr>
        </p:nvSpPr>
        <p:spPr>
          <a:xfrm>
            <a:off x="4970160" y="3753000"/>
            <a:ext cx="639720" cy="4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8"/>
          <p:cNvSpPr>
            <a:spLocks noGrp="1"/>
          </p:cNvSpPr>
          <p:nvPr>
            <p:ph type="title"/>
          </p:nvPr>
        </p:nvSpPr>
        <p:spPr>
          <a:xfrm>
            <a:off x="4970160" y="4309200"/>
            <a:ext cx="639720" cy="4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9"/>
          <p:cNvSpPr>
            <a:spLocks noGrp="1"/>
          </p:cNvSpPr>
          <p:nvPr>
            <p:ph type="title"/>
          </p:nvPr>
        </p:nvSpPr>
        <p:spPr>
          <a:xfrm>
            <a:off x="4970160" y="2640960"/>
            <a:ext cx="639720" cy="417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228600" y="4342320"/>
            <a:ext cx="62197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_1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28600" y="204480"/>
            <a:ext cx="5598720" cy="102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014880" y="-12960"/>
            <a:ext cx="3128760" cy="51559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960480"/>
            <a:ext cx="2136600" cy="104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9040" y="1144800"/>
            <a:ext cx="1825560" cy="178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5104080" y="1144800"/>
            <a:ext cx="1825560" cy="178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7089480" y="1144800"/>
            <a:ext cx="1825560" cy="17845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1700640" y="243396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title"/>
          </p:nvPr>
        </p:nvSpPr>
        <p:spPr>
          <a:xfrm>
            <a:off x="4261320" y="243396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title"/>
          </p:nvPr>
        </p:nvSpPr>
        <p:spPr>
          <a:xfrm>
            <a:off x="6822000" y="243396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title"/>
          </p:nvPr>
        </p:nvSpPr>
        <p:spPr>
          <a:xfrm>
            <a:off x="1700640" y="376128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title"/>
          </p:nvPr>
        </p:nvSpPr>
        <p:spPr>
          <a:xfrm>
            <a:off x="4261320" y="376128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7"/>
          <p:cNvSpPr>
            <a:spLocks noGrp="1"/>
          </p:cNvSpPr>
          <p:nvPr>
            <p:ph type="title"/>
          </p:nvPr>
        </p:nvSpPr>
        <p:spPr>
          <a:xfrm>
            <a:off x="6822000" y="3761280"/>
            <a:ext cx="621000" cy="399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5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2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28600" y="255240"/>
            <a:ext cx="2655360" cy="1946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5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Google Shape;102;p18"/>
          <p:cNvSpPr/>
          <p:nvPr/>
        </p:nvSpPr>
        <p:spPr>
          <a:xfrm>
            <a:off x="6045840" y="498960"/>
            <a:ext cx="2819520" cy="58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CREDITS: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 This presentation template was created by </a:t>
            </a:r>
            <a:r>
              <a:rPr lang="en" sz="1000" b="1" u="sng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dk2"/>
                </a:solidFill>
                <a:effectLst/>
                <a:uFillTx/>
                <a:latin typeface="Nunito"/>
                <a:ea typeface="Nunito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Google Shape;104;p19"/>
          <p:cNvCxnSpPr/>
          <p:nvPr/>
        </p:nvCxnSpPr>
        <p:spPr>
          <a:xfrm>
            <a:off x="-69840" y="224640"/>
            <a:ext cx="9284040" cy="360"/>
          </a:xfrm>
          <a:prstGeom prst="straightConnector1">
            <a:avLst/>
          </a:prstGeom>
          <a:ln w="9525">
            <a:solidFill>
              <a:srgbClr val="AAA9A6"/>
            </a:solidFill>
            <a:round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Google Shape;106;p20"/>
          <p:cNvCxnSpPr/>
          <p:nvPr/>
        </p:nvCxnSpPr>
        <p:spPr>
          <a:xfrm>
            <a:off x="260280" y="-104760"/>
            <a:ext cx="360" cy="5353200"/>
          </a:xfrm>
          <a:prstGeom prst="straightConnector1">
            <a:avLst/>
          </a:prstGeom>
          <a:ln w="9525">
            <a:solidFill>
              <a:srgbClr val="AAA9A6"/>
            </a:solidFill>
            <a:round/>
          </a:ln>
        </p:spPr>
      </p:cxnSp>
      <p:cxnSp>
        <p:nvCxnSpPr>
          <p:cNvPr id="33" name="Google Shape;107;p20"/>
          <p:cNvCxnSpPr/>
          <p:nvPr/>
        </p:nvCxnSpPr>
        <p:spPr>
          <a:xfrm>
            <a:off x="-24120" y="4914720"/>
            <a:ext cx="9284040" cy="360"/>
          </a:xfrm>
          <a:prstGeom prst="straightConnector1">
            <a:avLst/>
          </a:prstGeom>
          <a:ln w="9525">
            <a:solidFill>
              <a:srgbClr val="AAA9A6"/>
            </a:solidFill>
            <a:round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481200" y="1233720"/>
            <a:ext cx="3173040" cy="3681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35" name="PlaceHolder 2"/>
          <p:cNvSpPr>
            <a:spLocks noGrp="1"/>
          </p:cNvSpPr>
          <p:nvPr>
            <p:ph type="title"/>
          </p:nvPr>
        </p:nvSpPr>
        <p:spPr>
          <a:xfrm>
            <a:off x="1242720" y="228600"/>
            <a:ext cx="3870000" cy="172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6" name="PlaceHolder 3"/>
          <p:cNvSpPr>
            <a:spLocks noGrp="1"/>
          </p:cNvSpPr>
          <p:nvPr>
            <p:ph type="title"/>
          </p:nvPr>
        </p:nvSpPr>
        <p:spPr>
          <a:xfrm>
            <a:off x="78480" y="228600"/>
            <a:ext cx="1163520" cy="1106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000" b="0" i="1" u="none" strike="noStrike">
                <a:solidFill>
                  <a:schemeClr val="accent1"/>
                </a:solidFill>
                <a:effectLst/>
                <a:uFillTx/>
                <a:latin typeface="Roboto Condensed"/>
                <a:ea typeface="Roboto Condensed"/>
              </a:rPr>
              <a:t>xx%</a:t>
            </a:r>
            <a:endParaRPr lang="fr-FR" sz="5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0000" y="1278000"/>
            <a:ext cx="7703640" cy="3330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832400" y="4342320"/>
            <a:ext cx="58402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1464480" y="228600"/>
            <a:ext cx="6214320" cy="26402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1760" y="228600"/>
            <a:ext cx="86932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20000" y="836280"/>
            <a:ext cx="3519360" cy="2295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273280" y="533880"/>
            <a:ext cx="2909520" cy="40755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890000" y="1307160"/>
            <a:ext cx="536364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4335840" cy="128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3260160" cy="105228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113;p2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16;p24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14480" y="219240"/>
            <a:ext cx="3771720" cy="2485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4500" b="0" u="none" strike="noStrike" noProof="0" dirty="0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Spring Boot +</a:t>
            </a:r>
            <a:r>
              <a:rPr lang="fr-FR" sz="4500" b="0" i="1" u="none" strike="noStrike" noProof="0" dirty="0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 </a:t>
            </a:r>
            <a:r>
              <a:rPr lang="fr-FR" sz="4500" b="0" i="1" u="none" strike="noStrike" noProof="0" dirty="0" err="1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GraphQL</a:t>
            </a:r>
            <a:endParaRPr lang="fr-FR" sz="45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Google Shape;124;p25" title="woman-teaching-classroom (3).jpg"/>
          <p:cNvSpPr/>
          <p:nvPr/>
        </p:nvSpPr>
        <p:spPr>
          <a:xfrm>
            <a:off x="4507787" y="490590"/>
            <a:ext cx="4162320" cy="416232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55" name="Google Shape;125;p25"/>
          <p:cNvCxnSpPr/>
          <p:nvPr/>
        </p:nvCxnSpPr>
        <p:spPr>
          <a:xfrm>
            <a:off x="-24120" y="4914720"/>
            <a:ext cx="9284040" cy="360"/>
          </a:xfrm>
          <a:prstGeom prst="straightConnector1">
            <a:avLst/>
          </a:prstGeom>
          <a:ln w="9525">
            <a:solidFill>
              <a:srgbClr val="AAA9A6"/>
            </a:solidFill>
            <a:round/>
          </a:ln>
        </p:spPr>
      </p:cxnSp>
      <p:sp>
        <p:nvSpPr>
          <p:cNvPr id="57" name="PlaceHolder 2"/>
          <p:cNvSpPr>
            <a:spLocks noGrp="1"/>
          </p:cNvSpPr>
          <p:nvPr>
            <p:ph type="subTitle"/>
          </p:nvPr>
        </p:nvSpPr>
        <p:spPr>
          <a:xfrm>
            <a:off x="1552680" y="3666393"/>
            <a:ext cx="2333520" cy="111742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25000" lnSpcReduction="20000"/>
          </a:bodyPr>
          <a:lstStyle/>
          <a:p>
            <a:pPr>
              <a:lnSpc>
                <a:spcPct val="150000"/>
              </a:lnSpc>
            </a:pPr>
            <a:r>
              <a:rPr lang="fr-FR" sz="4800" b="1" noProof="0" dirty="0"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Présenté par </a:t>
            </a:r>
            <a:r>
              <a:rPr lang="fr-FR" sz="3700" b="1" noProof="0" dirty="0">
                <a:latin typeface="Palatino Linotype" panose="0204050205050503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fr-FR" sz="3400" noProof="0" dirty="0"/>
              <a:t> - Mohamed El </a:t>
            </a:r>
            <a:r>
              <a:rPr lang="fr-FR" sz="3400" noProof="0" dirty="0" err="1"/>
              <a:t>Havedh</a:t>
            </a:r>
            <a:r>
              <a:rPr lang="fr-FR" sz="3400" dirty="0"/>
              <a:t> IE21640 </a:t>
            </a:r>
            <a:endParaRPr lang="fr-FR" sz="3400" noProof="0" dirty="0"/>
          </a:p>
          <a:p>
            <a:pPr>
              <a:lnSpc>
                <a:spcPct val="150000"/>
              </a:lnSpc>
            </a:pPr>
            <a:r>
              <a:rPr lang="fr-FR" sz="3400" dirty="0"/>
              <a:t>- </a:t>
            </a:r>
            <a:r>
              <a:rPr lang="fr-FR" sz="3400" dirty="0" err="1"/>
              <a:t>Sidaty</a:t>
            </a:r>
            <a:r>
              <a:rPr lang="fr-FR" sz="3400" dirty="0"/>
              <a:t> </a:t>
            </a:r>
            <a:r>
              <a:rPr lang="fr-FR" sz="3400" dirty="0" err="1"/>
              <a:t>Chrif</a:t>
            </a:r>
            <a:r>
              <a:rPr lang="fr-FR" sz="3400" dirty="0"/>
              <a:t>-Ahmed  IE21626</a:t>
            </a:r>
            <a:endParaRPr lang="fr-FR" sz="3400" noProof="0" dirty="0"/>
          </a:p>
          <a:p>
            <a:pPr>
              <a:lnSpc>
                <a:spcPct val="150000"/>
              </a:lnSpc>
            </a:pPr>
            <a:r>
              <a:rPr lang="fr-FR" sz="3400" dirty="0"/>
              <a:t>- </a:t>
            </a:r>
            <a:r>
              <a:rPr lang="fr-FR" sz="3400" dirty="0" err="1"/>
              <a:t>Jaevar</a:t>
            </a:r>
            <a:r>
              <a:rPr lang="fr-FR" sz="3400" dirty="0"/>
              <a:t> </a:t>
            </a:r>
            <a:r>
              <a:rPr lang="fr-FR" sz="3400" dirty="0" err="1"/>
              <a:t>Sid’ahmed</a:t>
            </a:r>
            <a:r>
              <a:rPr lang="fr-FR" sz="3400" dirty="0"/>
              <a:t> </a:t>
            </a:r>
            <a:r>
              <a:rPr lang="fr-FR" sz="3400" dirty="0" err="1"/>
              <a:t>Hmeimed</a:t>
            </a:r>
            <a:r>
              <a:rPr lang="fr-FR" sz="3400" dirty="0"/>
              <a:t> IE21630</a:t>
            </a:r>
          </a:p>
          <a:p>
            <a:pPr>
              <a:lnSpc>
                <a:spcPct val="150000"/>
              </a:lnSpc>
            </a:pPr>
            <a:r>
              <a:rPr lang="fr-FR" sz="3400" dirty="0"/>
              <a:t>-</a:t>
            </a:r>
            <a:r>
              <a:rPr lang="fr-FR" sz="3400" dirty="0" err="1"/>
              <a:t>Mahfaudha</a:t>
            </a:r>
            <a:r>
              <a:rPr lang="fr-FR" sz="3400" dirty="0"/>
              <a:t> Mohamed Kenkou IE21628 </a:t>
            </a:r>
            <a:endParaRPr lang="fr-FR" sz="3400" noProof="0" dirty="0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6DF2FBF0-8ECB-4B44-6B13-405265230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7787" y="490590"/>
            <a:ext cx="4162320" cy="4162319"/>
          </a:xfrm>
          <a:prstGeom prst="ellipse">
            <a:avLst/>
          </a:prstGeom>
          <a:solidFill>
            <a:srgbClr val="00B050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258;p31"/>
          <p:cNvCxnSpPr/>
          <p:nvPr/>
        </p:nvCxnSpPr>
        <p:spPr>
          <a:xfrm>
            <a:off x="-109080" y="1253151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52A963F3-D68C-5326-9C90-A341B7F72DA3}"/>
              </a:ext>
            </a:extLst>
          </p:cNvPr>
          <p:cNvGrpSpPr/>
          <p:nvPr/>
        </p:nvGrpSpPr>
        <p:grpSpPr>
          <a:xfrm>
            <a:off x="449396" y="78145"/>
            <a:ext cx="2490354" cy="1097673"/>
            <a:chOff x="449396" y="78145"/>
            <a:chExt cx="2490354" cy="1097673"/>
          </a:xfrm>
        </p:grpSpPr>
        <p:sp>
          <p:nvSpPr>
            <p:cNvPr id="6" name="Google Shape;4282;p57">
              <a:extLst>
                <a:ext uri="{FF2B5EF4-FFF2-40B4-BE49-F238E27FC236}">
                  <a16:creationId xmlns:a16="http://schemas.microsoft.com/office/drawing/2014/main" id="{FCCDFD44-6B66-9A07-B75D-A47C4A923081}"/>
                </a:ext>
              </a:extLst>
            </p:cNvPr>
            <p:cNvSpPr/>
            <p:nvPr/>
          </p:nvSpPr>
          <p:spPr>
            <a:xfrm>
              <a:off x="660702" y="793192"/>
              <a:ext cx="2107233" cy="271575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81267" tIns="81267" rIns="81267" bIns="81267" anchor="ctr" anchorCtr="0">
              <a:noAutofit/>
            </a:bodyPr>
            <a:lstStyle/>
            <a:p>
              <a:endParaRPr sz="1600" dirty="0"/>
            </a:p>
          </p:txBody>
        </p:sp>
        <p:sp>
          <p:nvSpPr>
            <p:cNvPr id="7" name="TextBox 3">
              <a:extLst>
                <a:ext uri="{FF2B5EF4-FFF2-40B4-BE49-F238E27FC236}">
                  <a16:creationId xmlns:a16="http://schemas.microsoft.com/office/drawing/2014/main" id="{C9A57221-B90D-CA01-AB4C-E7FC03B03DC4}"/>
                </a:ext>
              </a:extLst>
            </p:cNvPr>
            <p:cNvSpPr txBox="1"/>
            <p:nvPr/>
          </p:nvSpPr>
          <p:spPr>
            <a:xfrm>
              <a:off x="449396" y="78145"/>
              <a:ext cx="2490354" cy="10976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9120"/>
                </a:lnSpc>
                <a:spcBef>
                  <a:spcPct val="0"/>
                </a:spcBef>
              </a:pPr>
              <a:r>
                <a:rPr lang="en-US" sz="6515" dirty="0">
                  <a:latin typeface="Palatino Linotype" panose="02040502050505030304" pitchFamily="18" charset="0"/>
                  <a:ea typeface="Nunito"/>
                  <a:cs typeface="Nunito"/>
                  <a:sym typeface="Nunito"/>
                </a:rPr>
                <a:t>Plan</a:t>
              </a:r>
            </a:p>
          </p:txBody>
        </p:sp>
      </p:grpSp>
      <p:grpSp>
        <p:nvGrpSpPr>
          <p:cNvPr id="26" name="Groupe 25">
            <a:extLst>
              <a:ext uri="{FF2B5EF4-FFF2-40B4-BE49-F238E27FC236}">
                <a16:creationId xmlns:a16="http://schemas.microsoft.com/office/drawing/2014/main" id="{CA359C99-E117-789F-AAFE-43BA4303223E}"/>
              </a:ext>
            </a:extLst>
          </p:cNvPr>
          <p:cNvGrpSpPr/>
          <p:nvPr/>
        </p:nvGrpSpPr>
        <p:grpSpPr>
          <a:xfrm>
            <a:off x="449396" y="1773011"/>
            <a:ext cx="4182899" cy="462178"/>
            <a:chOff x="1714319" y="2177564"/>
            <a:chExt cx="4182899" cy="462178"/>
          </a:xfrm>
        </p:grpSpPr>
        <p:sp>
          <p:nvSpPr>
            <p:cNvPr id="13" name="TextBox 4">
              <a:extLst>
                <a:ext uri="{FF2B5EF4-FFF2-40B4-BE49-F238E27FC236}">
                  <a16:creationId xmlns:a16="http://schemas.microsoft.com/office/drawing/2014/main" id="{F208A1C4-A8FC-A7A7-D8E9-CB3406BF7610}"/>
                </a:ext>
              </a:extLst>
            </p:cNvPr>
            <p:cNvSpPr txBox="1"/>
            <p:nvPr/>
          </p:nvSpPr>
          <p:spPr>
            <a:xfrm>
              <a:off x="2569856" y="2278609"/>
              <a:ext cx="3327362" cy="2702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  <a:spcBef>
                  <a:spcPct val="0"/>
                </a:spcBef>
              </a:pPr>
              <a:r>
                <a:rPr lang="en" sz="2000" dirty="0">
                  <a:latin typeface="Palatino Linotype" panose="02040502050505030304" pitchFamily="18" charset="0"/>
                </a:rPr>
                <a:t>INTRODUCTION</a:t>
              </a:r>
              <a:endParaRPr lang="en-US" sz="2000" b="1" spc="227" dirty="0">
                <a:latin typeface="Palatino Linotype" panose="02040502050505030304" pitchFamily="18" charset="0"/>
                <a:ea typeface="Nunito Bold"/>
                <a:cs typeface="Nunito Bold"/>
                <a:sym typeface="Nunito Bold"/>
              </a:endParaRPr>
            </a:p>
          </p:txBody>
        </p:sp>
        <p:sp>
          <p:nvSpPr>
            <p:cNvPr id="14" name="TextBox 5">
              <a:extLst>
                <a:ext uri="{FF2B5EF4-FFF2-40B4-BE49-F238E27FC236}">
                  <a16:creationId xmlns:a16="http://schemas.microsoft.com/office/drawing/2014/main" id="{D10A24AA-FED6-C444-8E13-4AEAB6C17667}"/>
                </a:ext>
              </a:extLst>
            </p:cNvPr>
            <p:cNvSpPr txBox="1"/>
            <p:nvPr/>
          </p:nvSpPr>
          <p:spPr>
            <a:xfrm>
              <a:off x="1714319" y="2177564"/>
              <a:ext cx="855536" cy="46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4000" dirty="0">
                  <a:latin typeface="Playfair Display"/>
                  <a:ea typeface="Playfair Display"/>
                  <a:cs typeface="Playfair Display"/>
                  <a:sym typeface="Playfair Display"/>
                </a:rPr>
                <a:t>01</a:t>
              </a: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49632831-AC20-DF42-7D7A-DAA6BBCDDACB}"/>
              </a:ext>
            </a:extLst>
          </p:cNvPr>
          <p:cNvGrpSpPr/>
          <p:nvPr/>
        </p:nvGrpSpPr>
        <p:grpSpPr>
          <a:xfrm>
            <a:off x="449396" y="2509384"/>
            <a:ext cx="4076882" cy="462178"/>
            <a:chOff x="1714319" y="3264695"/>
            <a:chExt cx="4076882" cy="462178"/>
          </a:xfrm>
        </p:grpSpPr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472E3B55-6D10-D391-73D4-C6DD09232DE7}"/>
                </a:ext>
              </a:extLst>
            </p:cNvPr>
            <p:cNvSpPr txBox="1"/>
            <p:nvPr/>
          </p:nvSpPr>
          <p:spPr>
            <a:xfrm>
              <a:off x="2615701" y="3384328"/>
              <a:ext cx="3175500" cy="2702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  <a:spcBef>
                  <a:spcPct val="0"/>
                </a:spcBef>
              </a:pPr>
              <a:r>
                <a:rPr lang="fr-FR" sz="2000" dirty="0">
                  <a:latin typeface="Palatino Linotype" panose="02040502050505030304" pitchFamily="18" charset="0"/>
                </a:rPr>
                <a:t>LIMITES DE REST</a:t>
              </a:r>
              <a:endParaRPr lang="en-US" sz="2000" dirty="0">
                <a:latin typeface="Palatino Linotype" panose="02040502050505030304" pitchFamily="18" charset="0"/>
                <a:sym typeface="Nunito Bold"/>
              </a:endParaRPr>
            </a:p>
          </p:txBody>
        </p: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DA9EA117-45C0-AB70-3B4C-D23AB6F0BC45}"/>
                </a:ext>
              </a:extLst>
            </p:cNvPr>
            <p:cNvSpPr txBox="1"/>
            <p:nvPr/>
          </p:nvSpPr>
          <p:spPr>
            <a:xfrm>
              <a:off x="1714319" y="3264695"/>
              <a:ext cx="855536" cy="46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4000" dirty="0">
                  <a:latin typeface="Playfair Display"/>
                  <a:ea typeface="Playfair Display"/>
                  <a:cs typeface="Playfair Display"/>
                  <a:sym typeface="Playfair Display"/>
                </a:rPr>
                <a:t>02</a:t>
              </a:r>
            </a:p>
          </p:txBody>
        </p:sp>
      </p:grpSp>
      <p:grpSp>
        <p:nvGrpSpPr>
          <p:cNvPr id="28" name="Groupe 27">
            <a:extLst>
              <a:ext uri="{FF2B5EF4-FFF2-40B4-BE49-F238E27FC236}">
                <a16:creationId xmlns:a16="http://schemas.microsoft.com/office/drawing/2014/main" id="{4764CF19-0E02-AB3F-830D-48431FBFE330}"/>
              </a:ext>
            </a:extLst>
          </p:cNvPr>
          <p:cNvGrpSpPr/>
          <p:nvPr/>
        </p:nvGrpSpPr>
        <p:grpSpPr>
          <a:xfrm>
            <a:off x="449396" y="3140070"/>
            <a:ext cx="4799935" cy="462178"/>
            <a:chOff x="1714319" y="4351825"/>
            <a:chExt cx="4799935" cy="462178"/>
          </a:xfrm>
        </p:grpSpPr>
        <p:sp>
          <p:nvSpPr>
            <p:cNvPr id="16" name="TextBox 8">
              <a:extLst>
                <a:ext uri="{FF2B5EF4-FFF2-40B4-BE49-F238E27FC236}">
                  <a16:creationId xmlns:a16="http://schemas.microsoft.com/office/drawing/2014/main" id="{0C65857E-1021-4ADF-748A-5382B36D6B7D}"/>
                </a:ext>
              </a:extLst>
            </p:cNvPr>
            <p:cNvSpPr txBox="1"/>
            <p:nvPr/>
          </p:nvSpPr>
          <p:spPr>
            <a:xfrm>
              <a:off x="2615699" y="4516928"/>
              <a:ext cx="3898555" cy="2702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  <a:spcBef>
                  <a:spcPct val="0"/>
                </a:spcBef>
              </a:pPr>
              <a:r>
                <a:rPr lang="fr-FR" sz="2000" dirty="0" err="1">
                  <a:latin typeface="Palatino Linotype" panose="02040502050505030304" pitchFamily="18" charset="0"/>
                </a:rPr>
                <a:t>GraphQL</a:t>
              </a:r>
              <a:endParaRPr lang="en-US" sz="2000" dirty="0">
                <a:latin typeface="Palatino Linotype" panose="02040502050505030304" pitchFamily="18" charset="0"/>
                <a:sym typeface="Nunito Bold"/>
              </a:endParaRPr>
            </a:p>
          </p:txBody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52872615-93FC-0FE5-E6D4-6B23A7022551}"/>
                </a:ext>
              </a:extLst>
            </p:cNvPr>
            <p:cNvSpPr txBox="1"/>
            <p:nvPr/>
          </p:nvSpPr>
          <p:spPr>
            <a:xfrm>
              <a:off x="1714319" y="4351825"/>
              <a:ext cx="855536" cy="46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4000" dirty="0">
                  <a:latin typeface="Playfair Display"/>
                  <a:ea typeface="Playfair Display"/>
                  <a:cs typeface="Playfair Display"/>
                  <a:sym typeface="Playfair Display"/>
                </a:rPr>
                <a:t>03</a:t>
              </a:r>
            </a:p>
          </p:txBody>
        </p:sp>
      </p:grpSp>
      <p:grpSp>
        <p:nvGrpSpPr>
          <p:cNvPr id="29" name="Groupe 28">
            <a:extLst>
              <a:ext uri="{FF2B5EF4-FFF2-40B4-BE49-F238E27FC236}">
                <a16:creationId xmlns:a16="http://schemas.microsoft.com/office/drawing/2014/main" id="{C9DEDF91-5C11-1AA3-4E2A-B36236F665B9}"/>
              </a:ext>
            </a:extLst>
          </p:cNvPr>
          <p:cNvGrpSpPr/>
          <p:nvPr/>
        </p:nvGrpSpPr>
        <p:grpSpPr>
          <a:xfrm>
            <a:off x="4632295" y="1706629"/>
            <a:ext cx="5672111" cy="462178"/>
            <a:chOff x="6223648" y="2084489"/>
            <a:chExt cx="5672111" cy="462178"/>
          </a:xfrm>
        </p:grpSpPr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F9FC09F6-6115-183C-DAC0-BF73756110FF}"/>
                </a:ext>
              </a:extLst>
            </p:cNvPr>
            <p:cNvSpPr txBox="1"/>
            <p:nvPr/>
          </p:nvSpPr>
          <p:spPr>
            <a:xfrm>
              <a:off x="6223648" y="2084489"/>
              <a:ext cx="855536" cy="46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4000" dirty="0">
                  <a:latin typeface="Playfair Display"/>
                  <a:ea typeface="Playfair Display"/>
                  <a:cs typeface="Playfair Display"/>
                  <a:sym typeface="Playfair Display"/>
                </a:rPr>
                <a:t>04</a:t>
              </a:r>
            </a:p>
          </p:txBody>
        </p:sp>
        <p:sp>
          <p:nvSpPr>
            <p:cNvPr id="21" name="TextBox 16">
              <a:extLst>
                <a:ext uri="{FF2B5EF4-FFF2-40B4-BE49-F238E27FC236}">
                  <a16:creationId xmlns:a16="http://schemas.microsoft.com/office/drawing/2014/main" id="{BFC0952E-B871-70E0-602D-7359D9A8FFFD}"/>
                </a:ext>
              </a:extLst>
            </p:cNvPr>
            <p:cNvSpPr txBox="1"/>
            <p:nvPr/>
          </p:nvSpPr>
          <p:spPr>
            <a:xfrm>
              <a:off x="6912665" y="2204787"/>
              <a:ext cx="4983094" cy="2702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  <a:spcBef>
                  <a:spcPct val="0"/>
                </a:spcBef>
              </a:pPr>
              <a:r>
                <a:rPr lang="fr-FR" sz="2000" dirty="0">
                  <a:latin typeface="Palatino Linotype" panose="02040502050505030304" pitchFamily="18" charset="0"/>
                </a:rPr>
                <a:t>PROJET : Library </a:t>
              </a:r>
              <a:r>
                <a:rPr lang="fr-FR" sz="2000" dirty="0" err="1">
                  <a:latin typeface="Palatino Linotype" panose="02040502050505030304" pitchFamily="18" charset="0"/>
                </a:rPr>
                <a:t>GraphQL</a:t>
              </a:r>
              <a:r>
                <a:rPr lang="fr-FR" sz="2000" dirty="0">
                  <a:latin typeface="Palatino Linotype" panose="02040502050505030304" pitchFamily="18" charset="0"/>
                </a:rPr>
                <a:t> </a:t>
              </a:r>
              <a:endParaRPr lang="en-US" sz="2000" dirty="0">
                <a:latin typeface="Palatino Linotype" panose="02040502050505030304" pitchFamily="18" charset="0"/>
                <a:sym typeface="Nunito Bold"/>
              </a:endParaRPr>
            </a:p>
          </p:txBody>
        </p:sp>
      </p:grpSp>
      <p:grpSp>
        <p:nvGrpSpPr>
          <p:cNvPr id="30" name="Groupe 29">
            <a:extLst>
              <a:ext uri="{FF2B5EF4-FFF2-40B4-BE49-F238E27FC236}">
                <a16:creationId xmlns:a16="http://schemas.microsoft.com/office/drawing/2014/main" id="{C9F2318F-C3B2-EAE6-9F4C-B07BFD1C2794}"/>
              </a:ext>
            </a:extLst>
          </p:cNvPr>
          <p:cNvGrpSpPr/>
          <p:nvPr/>
        </p:nvGrpSpPr>
        <p:grpSpPr>
          <a:xfrm>
            <a:off x="4632295" y="2404867"/>
            <a:ext cx="4085906" cy="462178"/>
            <a:chOff x="6297009" y="3153311"/>
            <a:chExt cx="4085906" cy="462178"/>
          </a:xfrm>
        </p:grpSpPr>
        <p:sp>
          <p:nvSpPr>
            <p:cNvPr id="20" name="TextBox 14">
              <a:extLst>
                <a:ext uri="{FF2B5EF4-FFF2-40B4-BE49-F238E27FC236}">
                  <a16:creationId xmlns:a16="http://schemas.microsoft.com/office/drawing/2014/main" id="{D093C1B6-D2C0-F53D-EA33-2A375AE4CB0A}"/>
                </a:ext>
              </a:extLst>
            </p:cNvPr>
            <p:cNvSpPr txBox="1"/>
            <p:nvPr/>
          </p:nvSpPr>
          <p:spPr>
            <a:xfrm>
              <a:off x="6297009" y="3153311"/>
              <a:ext cx="855536" cy="4621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600"/>
                </a:lnSpc>
              </a:pPr>
              <a:r>
                <a:rPr lang="en-US" sz="4000" dirty="0">
                  <a:latin typeface="Playfair Display"/>
                  <a:ea typeface="Playfair Display"/>
                  <a:cs typeface="Playfair Display"/>
                  <a:sym typeface="Playfair Display"/>
                </a:rPr>
                <a:t>05</a:t>
              </a:r>
            </a:p>
          </p:txBody>
        </p:sp>
        <p:sp>
          <p:nvSpPr>
            <p:cNvPr id="22" name="TextBox 17">
              <a:extLst>
                <a:ext uri="{FF2B5EF4-FFF2-40B4-BE49-F238E27FC236}">
                  <a16:creationId xmlns:a16="http://schemas.microsoft.com/office/drawing/2014/main" id="{9F2A2D69-E60F-8E72-4916-3CD4C6BD06B2}"/>
                </a:ext>
              </a:extLst>
            </p:cNvPr>
            <p:cNvSpPr txBox="1"/>
            <p:nvPr/>
          </p:nvSpPr>
          <p:spPr>
            <a:xfrm>
              <a:off x="6993984" y="3258299"/>
              <a:ext cx="3388931" cy="2839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53"/>
                </a:lnSpc>
                <a:spcBef>
                  <a:spcPct val="0"/>
                </a:spcBef>
              </a:pPr>
              <a:r>
                <a:rPr lang="en-US" sz="2000" dirty="0">
                  <a:latin typeface="Palatino Linotype" panose="02040502050505030304" pitchFamily="18" charset="0"/>
                  <a:sym typeface="Nunito Bold"/>
                </a:rPr>
                <a:t>CONCLUSION</a:t>
              </a:r>
              <a:r>
                <a:rPr lang="en-US" sz="2133" dirty="0">
                  <a:latin typeface="Palatino Linotype" panose="02040502050505030304" pitchFamily="18" charset="0"/>
                  <a:sym typeface="Nunito Bold"/>
                </a:rPr>
                <a:t> </a:t>
              </a:r>
              <a:r>
                <a:rPr lang="en-US" sz="1466" b="1" spc="227" dirty="0">
                  <a:latin typeface="Palatino Linotype" panose="02040502050505030304" pitchFamily="18" charset="0"/>
                  <a:ea typeface="Nunito Bold"/>
                  <a:cs typeface="Nunito Bold"/>
                  <a:sym typeface="Nunito Bold"/>
                </a:rPr>
                <a:t> 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4335-216E-9C24-8CEB-1543E92B4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>
            <a:extLst>
              <a:ext uri="{FF2B5EF4-FFF2-40B4-BE49-F238E27FC236}">
                <a16:creationId xmlns:a16="http://schemas.microsoft.com/office/drawing/2014/main" id="{8963F654-616C-7AE1-FD2E-D86E968FC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4343400"/>
            <a:ext cx="62193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600" b="0" u="none" strike="noStrike" noProof="0" dirty="0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Introduction</a:t>
            </a:r>
            <a:endParaRPr lang="fr-FR" sz="36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>
            <a:extLst>
              <a:ext uri="{FF2B5EF4-FFF2-40B4-BE49-F238E27FC236}">
                <a16:creationId xmlns:a16="http://schemas.microsoft.com/office/drawing/2014/main" id="{76B0833A-52B1-E960-BE34-E2C1BE8165B3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791752" y="267037"/>
            <a:ext cx="5857271" cy="311608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l’heure actuelle, les applications web et mobiles exigent des interactions plus efficaces et flexibles avec les serveurs. REST(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Representational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Transfer) est longtemps resté le standard pour la communication entre client et serveur, mais ses limites ont conduit à l’apparition de solutions plus flexibles comme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(Graph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cxnSp>
        <p:nvCxnSpPr>
          <p:cNvPr id="60" name="Google Shape;258;p31">
            <a:extLst>
              <a:ext uri="{FF2B5EF4-FFF2-40B4-BE49-F238E27FC236}">
                <a16:creationId xmlns:a16="http://schemas.microsoft.com/office/drawing/2014/main" id="{D4C38C4B-F3BA-0775-7801-0AF219AB7944}"/>
              </a:ext>
            </a:extLst>
          </p:cNvPr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</p:spTree>
    <p:extLst>
      <p:ext uri="{BB962C8B-B14F-4D97-AF65-F5344CB8AC3E}">
        <p14:creationId xmlns:p14="http://schemas.microsoft.com/office/powerpoint/2010/main" val="2044314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Limites de REST</a:t>
            </a:r>
            <a:endParaRPr lang="fr-FR" sz="3000" b="0" u="none" strike="noStrike" noProof="0" dirty="0">
              <a:solidFill>
                <a:schemeClr val="dk1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ubTitle"/>
          </p:nvPr>
        </p:nvSpPr>
        <p:spPr>
          <a:xfrm>
            <a:off x="-15869" y="1582671"/>
            <a:ext cx="6030749" cy="79105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fr-F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Overfetching</a:t>
            </a:r>
            <a:r>
              <a:rPr lang="fr-F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(trop de données) : REST renvoie plus de données que ce dont le client a besoin.</a:t>
            </a:r>
          </a:p>
        </p:txBody>
      </p:sp>
      <p:cxnSp>
        <p:nvCxnSpPr>
          <p:cNvPr id="63" name="Google Shape;326;p37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pic>
        <p:nvPicPr>
          <p:cNvPr id="64" name="Google Shape;327;p37"/>
          <p:cNvPicPr/>
          <p:nvPr/>
        </p:nvPicPr>
        <p:blipFill>
          <a:blip r:embed="rId3"/>
          <a:srcRect l="32990" r="32995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6" name="Picture 2" descr="Concepto de Límite - Concepto, tipos y ejemplos">
            <a:extLst>
              <a:ext uri="{FF2B5EF4-FFF2-40B4-BE49-F238E27FC236}">
                <a16:creationId xmlns:a16="http://schemas.microsoft.com/office/drawing/2014/main" id="{AF64503C-5A56-0331-3655-3D84041002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007780" y="1007100"/>
            <a:ext cx="5142960" cy="3128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-92227" y="2441279"/>
            <a:ext cx="5921347" cy="698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2.  </a:t>
            </a:r>
            <a:r>
              <a:rPr lang="fr-FR" sz="1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Underfetching</a:t>
            </a: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(pas assez de données) : REST oblige souvent à faire plusieurs requêtes pour obtenir toutes les données nécessaires.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-92227" y="3296675"/>
            <a:ext cx="7388029" cy="7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3. Multiplication des </a:t>
            </a:r>
            <a:r>
              <a:rPr lang="fr-FR" sz="1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endpoints</a:t>
            </a: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:REST nécessite un </a:t>
            </a:r>
            <a:r>
              <a:rPr lang="fr-FR" sz="1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endpoint</a:t>
            </a: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pour chaque type de ressource donc l’API devient difficile à maintenir.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20" y="4062950"/>
            <a:ext cx="6838834" cy="70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4. </a:t>
            </a:r>
            <a:r>
              <a:rPr lang="fr-FR" sz="1400" dirty="0" err="1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Versioning</a:t>
            </a:r>
            <a:r>
              <a:rPr lang="fr-FR" sz="140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lourd :Chaque changement important oblige à créer une                                                          nouvelle version de l’API (v1, v2, v3…).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2" grpId="0"/>
      <p:bldP spid="3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228600" y="4343400"/>
            <a:ext cx="62193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3200" dirty="0" err="1"/>
              <a:t>GraphQL</a:t>
            </a:r>
            <a:endParaRPr lang="fr-FR" sz="3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3610080" y="990720"/>
            <a:ext cx="4990680" cy="309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b="1" dirty="0" err="1"/>
              <a:t>GraphQL</a:t>
            </a:r>
            <a:r>
              <a:rPr lang="fr-FR" sz="1800" dirty="0"/>
              <a:t>, né chez Facebook, se présente aujourd’hui comme une alternative robuste : il permet aux clients de demander exactement les données dont ils ont besoin, dans une seule requête, avec un schéma strict et typé.</a:t>
            </a:r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7" name="Google Shape;258;p31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3200" dirty="0"/>
              <a:t>Le</a:t>
            </a:r>
            <a:r>
              <a:rPr lang="fr-FR" sz="3000" b="0" u="none" strike="noStrike" noProof="0" dirty="0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 </a:t>
            </a:r>
            <a:r>
              <a:rPr lang="fr-FR" sz="3200" dirty="0"/>
              <a:t>Schéma</a:t>
            </a:r>
            <a:endParaRPr lang="fr-FR" sz="3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411480" y="1515240"/>
            <a:ext cx="5028840" cy="64375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marL="457200" indent="-333360">
              <a:lnSpc>
                <a:spcPct val="150000"/>
              </a:lnSpc>
              <a:tabLst>
                <a:tab pos="0" algn="l"/>
              </a:tabLst>
            </a:pPr>
            <a:r>
              <a:rPr lang="fr-FR" sz="1600" dirty="0"/>
              <a:t>Il définit la structure des données, les types, et les opérations possibles (</a:t>
            </a:r>
            <a:r>
              <a:rPr lang="fr-FR" sz="1600" dirty="0" err="1"/>
              <a:t>queries</a:t>
            </a:r>
            <a:r>
              <a:rPr lang="fr-FR" sz="1600" dirty="0"/>
              <a:t>, mutations).</a:t>
            </a:r>
            <a:endParaRPr lang="fr-FR" sz="160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0" name="Google Shape;326;p37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D941FB2C-8CF7-4357-DE88-C5D7A60A3582}"/>
              </a:ext>
            </a:extLst>
          </p:cNvPr>
          <p:cNvSpPr txBox="1"/>
          <p:nvPr/>
        </p:nvSpPr>
        <p:spPr>
          <a:xfrm>
            <a:off x="490888" y="2247003"/>
            <a:ext cx="3878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a) </a:t>
            </a:r>
            <a:r>
              <a:rPr lang="fr-FR" sz="1600" b="1" dirty="0"/>
              <a:t>Types</a:t>
            </a:r>
            <a:r>
              <a:rPr lang="fr-FR" sz="1600" dirty="0"/>
              <a:t> : Un type définit une entité avec ses champs.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AD2EB29-6968-0A29-6647-3C6BF04DA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575" y="1707214"/>
            <a:ext cx="3448227" cy="2863997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8FF40EF5-97B5-6607-E493-3010183A8234}"/>
              </a:ext>
            </a:extLst>
          </p:cNvPr>
          <p:cNvSpPr txBox="1"/>
          <p:nvPr/>
        </p:nvSpPr>
        <p:spPr>
          <a:xfrm>
            <a:off x="490888" y="2919785"/>
            <a:ext cx="3782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b) </a:t>
            </a:r>
            <a:r>
              <a:rPr lang="fr-FR" sz="1600" b="1" dirty="0" err="1"/>
              <a:t>Queries</a:t>
            </a:r>
            <a:r>
              <a:rPr lang="fr-FR" sz="1600" dirty="0"/>
              <a:t> : Les </a:t>
            </a:r>
            <a:r>
              <a:rPr lang="fr-FR" sz="1600" dirty="0" err="1"/>
              <a:t>queries</a:t>
            </a:r>
            <a:r>
              <a:rPr lang="fr-FR" sz="1600" dirty="0"/>
              <a:t> définissent ce que le client peut demander (l’équivalent des “GET” REST).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A440575-ED64-50BA-8C92-66C7B89FB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3573" y="5295353"/>
            <a:ext cx="3448228" cy="2863997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7028B796-6709-CD1A-0B56-6ACE7BD31FBD}"/>
              </a:ext>
            </a:extLst>
          </p:cNvPr>
          <p:cNvSpPr txBox="1"/>
          <p:nvPr/>
        </p:nvSpPr>
        <p:spPr>
          <a:xfrm>
            <a:off x="490888" y="3910865"/>
            <a:ext cx="3878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c) </a:t>
            </a:r>
            <a:r>
              <a:rPr lang="fr-FR" sz="1600" b="1" dirty="0"/>
              <a:t>Mutations</a:t>
            </a:r>
            <a:r>
              <a:rPr lang="fr-FR" sz="1600" dirty="0"/>
              <a:t> : Pour ajouter ou modifier des données (équivalent de POST/PUT/DELETE REST)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98C1AF9-47B4-F0AC-7C9E-9153EE73E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574" y="6012726"/>
            <a:ext cx="3448227" cy="286399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4.69136E-6 L -0.00243 -0.6941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-3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-8.64198E-7 L -0.00069 -0.83426 " pathEditMode="relative" rAng="0" ptsTypes="AA">
                                      <p:cBhvr>
                                        <p:cTn id="2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" y="-4172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build="p"/>
      <p:bldP spid="2" grpId="0"/>
      <p:bldP spid="5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228600" y="4343400"/>
            <a:ext cx="62193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3200" dirty="0"/>
              <a:t>Les </a:t>
            </a:r>
            <a:r>
              <a:rPr lang="fr-FR" sz="3200" dirty="0" err="1"/>
              <a:t>Queries</a:t>
            </a:r>
            <a:endParaRPr lang="fr-FR" sz="3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ubTitle"/>
          </p:nvPr>
        </p:nvSpPr>
        <p:spPr>
          <a:xfrm>
            <a:off x="3777720" y="-399372"/>
            <a:ext cx="4990680" cy="151425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dirty="0"/>
              <a:t>Une </a:t>
            </a:r>
            <a:r>
              <a:rPr lang="fr-FR" sz="1800" dirty="0" err="1"/>
              <a:t>query</a:t>
            </a:r>
            <a:r>
              <a:rPr lang="fr-FR" sz="1800" dirty="0"/>
              <a:t> est ce que le client envoie au serveur pour récupérer des données.</a:t>
            </a:r>
            <a:endParaRPr lang="fr-FR" sz="180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74" name="Google Shape;258;p31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1897E171-6AFB-1727-8541-ED2027D1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880" y="1114879"/>
            <a:ext cx="3794760" cy="151425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B7B1DAB3-3420-D795-2160-9CC5DD685F14}"/>
              </a:ext>
            </a:extLst>
          </p:cNvPr>
          <p:cNvSpPr txBox="1"/>
          <p:nvPr/>
        </p:nvSpPr>
        <p:spPr>
          <a:xfrm>
            <a:off x="3777720" y="2629129"/>
            <a:ext cx="49906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Ici le client demande :</a:t>
            </a:r>
          </a:p>
          <a:p>
            <a:pPr lvl="1"/>
            <a:r>
              <a:rPr lang="fr-FR" dirty="0"/>
              <a:t>le titre de tous les livres</a:t>
            </a:r>
          </a:p>
          <a:p>
            <a:pPr lvl="1"/>
            <a:r>
              <a:rPr lang="fr-FR" dirty="0"/>
              <a:t>le nom de l’auteur de chaque livre</a:t>
            </a:r>
          </a:p>
          <a:p>
            <a:r>
              <a:rPr lang="fr-FR" dirty="0" err="1"/>
              <a:t>GraphQL</a:t>
            </a:r>
            <a:r>
              <a:rPr lang="fr-FR" dirty="0"/>
              <a:t> retourne exactement ces champs, pas plus, pas moins.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 build="p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3200" dirty="0"/>
              <a:t>les </a:t>
            </a:r>
            <a:r>
              <a:rPr lang="fr-FR" sz="3200" dirty="0" err="1"/>
              <a:t>Resolvers</a:t>
            </a:r>
            <a:endParaRPr lang="fr-FR" sz="32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subTitle"/>
          </p:nvPr>
        </p:nvSpPr>
        <p:spPr>
          <a:xfrm>
            <a:off x="-106680" y="1515240"/>
            <a:ext cx="9037320" cy="738664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b">
            <a:spAutoFit/>
          </a:bodyPr>
          <a:lstStyle/>
          <a:p>
            <a:pPr marL="457200" lvl="1" algn="l" rtl="0"/>
            <a:r>
              <a:rPr lang="fr-F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Les </a:t>
            </a:r>
            <a:r>
              <a:rPr lang="fr-FR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Resolvers</a:t>
            </a:r>
            <a:r>
              <a:rPr lang="fr-F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sont des méthodes Java qui disent à </a:t>
            </a:r>
            <a:r>
              <a:rPr lang="fr-FR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GraphQL</a:t>
            </a:r>
            <a:r>
              <a:rPr lang="fr-FR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comment récupérer les données demandées.</a:t>
            </a:r>
          </a:p>
        </p:txBody>
      </p:sp>
      <p:cxnSp>
        <p:nvCxnSpPr>
          <p:cNvPr id="77" name="Google Shape;326;p37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AB1E5EAE-A5A8-0FFB-D2EC-9D36B0B40878}"/>
              </a:ext>
            </a:extLst>
          </p:cNvPr>
          <p:cNvSpPr txBox="1"/>
          <p:nvPr/>
        </p:nvSpPr>
        <p:spPr>
          <a:xfrm>
            <a:off x="396240" y="2224390"/>
            <a:ext cx="64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lphaLcParenR"/>
            </a:pPr>
            <a:r>
              <a:rPr lang="fr-FR" dirty="0" err="1"/>
              <a:t>Resolver</a:t>
            </a:r>
            <a:r>
              <a:rPr lang="fr-FR" dirty="0"/>
              <a:t> d’une </a:t>
            </a:r>
            <a:r>
              <a:rPr lang="fr-FR" dirty="0" err="1"/>
              <a:t>Query</a:t>
            </a:r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753786F-6403-AEEA-1E70-3ACBC3E9E5AC}"/>
              </a:ext>
            </a:extLst>
          </p:cNvPr>
          <p:cNvSpPr txBox="1"/>
          <p:nvPr/>
        </p:nvSpPr>
        <p:spPr>
          <a:xfrm>
            <a:off x="396240" y="5618769"/>
            <a:ext cx="38404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/>
              <a:t>@QueryMapping → correspond à type </a:t>
            </a:r>
            <a:r>
              <a:rPr lang="fr-FR" altLang="fr-FR" dirty="0" err="1"/>
              <a:t>Query</a:t>
            </a:r>
            <a:r>
              <a:rPr lang="fr-FR" altLang="fr-FR" dirty="0"/>
              <a:t> dans le </a:t>
            </a:r>
            <a:r>
              <a:rPr lang="fr-FR" altLang="fr-FR" dirty="0" err="1"/>
              <a:t>schema</a:t>
            </a:r>
            <a:endParaRPr lang="fr-FR" altLang="fr-FR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/>
              <a:t>@Argument → correspond aux paramètres de la </a:t>
            </a:r>
            <a:r>
              <a:rPr lang="fr-FR" altLang="fr-FR" dirty="0" err="1"/>
              <a:t>query</a:t>
            </a:r>
            <a:endParaRPr lang="fr-FR" alt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F6B43A1-8934-47B0-B371-9928E979BA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684" y="2166003"/>
            <a:ext cx="4587240" cy="2864066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3A964EC-125F-67EF-6CE5-1FED41EB5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684" y="5387065"/>
            <a:ext cx="4587240" cy="2864066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D25C853-804C-D162-B0D8-B8F2FD7B03FE}"/>
              </a:ext>
            </a:extLst>
          </p:cNvPr>
          <p:cNvSpPr txBox="1"/>
          <p:nvPr/>
        </p:nvSpPr>
        <p:spPr>
          <a:xfrm>
            <a:off x="326300" y="7066858"/>
            <a:ext cx="384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Quand le client demande l’auteur d’un livre : livre { auteur { nom } }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1C05989-DA6E-C13D-1405-7EFF30B0D1E5}"/>
              </a:ext>
            </a:extLst>
          </p:cNvPr>
          <p:cNvSpPr txBox="1"/>
          <p:nvPr/>
        </p:nvSpPr>
        <p:spPr>
          <a:xfrm>
            <a:off x="396240" y="2823174"/>
            <a:ext cx="6492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b) </a:t>
            </a:r>
            <a:r>
              <a:rPr lang="fr-FR" dirty="0" err="1"/>
              <a:t>Resolver</a:t>
            </a:r>
            <a:r>
              <a:rPr lang="fr-FR" dirty="0"/>
              <a:t> d’un champ imbriqué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64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1.38889E-6 0.03457 L 0.00087 -0.5410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" y="-28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0.12592 L 0.00018 -0.6213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377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4" presetClass="path" presetSubtype="0" accel="50000" decel="5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77778E-7 1.60494E-6 L 0.00156 -0.70833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" y="-35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build="p"/>
      <p:bldP spid="2" grpId="0"/>
      <p:bldP spid="3" grpId="0"/>
      <p:bldP spid="3" grpId="1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228600" y="4343400"/>
            <a:ext cx="8747760" cy="7986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r>
              <a:rPr lang="fr-FR" sz="3200" dirty="0"/>
              <a:t>Projet : </a:t>
            </a:r>
            <a:r>
              <a:rPr lang="fr-FR" sz="3200" dirty="0" err="1"/>
              <a:t>LibraryGraphql</a:t>
            </a:r>
            <a:r>
              <a:rPr lang="fr-FR" sz="3200" dirty="0"/>
              <a:t> – API Bibliothèque complète</a:t>
            </a:r>
          </a:p>
        </p:txBody>
      </p:sp>
      <p:sp>
        <p:nvSpPr>
          <p:cNvPr id="84" name="PlaceHolder 2"/>
          <p:cNvSpPr>
            <a:spLocks noGrp="1"/>
          </p:cNvSpPr>
          <p:nvPr>
            <p:ph type="subTitle"/>
          </p:nvPr>
        </p:nvSpPr>
        <p:spPr>
          <a:xfrm>
            <a:off x="4182120" y="801037"/>
            <a:ext cx="4990680" cy="564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10000"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CA" sz="1800" dirty="0" err="1"/>
              <a:t>Architecte</a:t>
            </a:r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85" name="Google Shape;258;p31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8AA98FC1-D873-A2EF-AFDF-83EFE1081E9B}"/>
              </a:ext>
            </a:extLst>
          </p:cNvPr>
          <p:cNvSpPr txBox="1"/>
          <p:nvPr/>
        </p:nvSpPr>
        <p:spPr>
          <a:xfrm>
            <a:off x="4095278" y="1658584"/>
            <a:ext cx="4861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Fonctionnalités implémentées :</a:t>
            </a:r>
          </a:p>
          <a:p>
            <a:endParaRPr lang="fr-FR" dirty="0"/>
          </a:p>
          <a:p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DFC5A24-133F-70C3-2620-13D357FE1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319" y="5698960"/>
            <a:ext cx="3862921" cy="28824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7E85115-10F2-4E85-1994-BF4E5D928523}"/>
              </a:ext>
            </a:extLst>
          </p:cNvPr>
          <p:cNvSpPr txBox="1"/>
          <p:nvPr/>
        </p:nvSpPr>
        <p:spPr>
          <a:xfrm>
            <a:off x="3158959" y="2293513"/>
            <a:ext cx="5985040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/>
              <a:t>CRUD complet sur Livre, Etudiant, Emprunt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BF485D9-1EA9-4288-281B-DE64AA3EFB62}"/>
              </a:ext>
            </a:extLst>
          </p:cNvPr>
          <p:cNvSpPr txBox="1"/>
          <p:nvPr/>
        </p:nvSpPr>
        <p:spPr>
          <a:xfrm>
            <a:off x="3158959" y="2632500"/>
            <a:ext cx="8571559" cy="664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ü"/>
            </a:pPr>
            <a:r>
              <a:rPr lang="fr-FR" dirty="0"/>
              <a:t>Requêtes imbriquées (</a:t>
            </a:r>
            <a:r>
              <a:rPr lang="fr-FR" dirty="0" err="1"/>
              <a:t>etudiant</a:t>
            </a:r>
            <a:r>
              <a:rPr lang="fr-FR" dirty="0"/>
              <a:t> + emprunts + livres)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0476CA1-8E9B-C7AD-98A8-AD5466DB215A}"/>
              </a:ext>
            </a:extLst>
          </p:cNvPr>
          <p:cNvSpPr txBox="1"/>
          <p:nvPr/>
        </p:nvSpPr>
        <p:spPr>
          <a:xfrm>
            <a:off x="3158959" y="3392002"/>
            <a:ext cx="5797879" cy="456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dirty="0"/>
              <a:t>Mutations : </a:t>
            </a:r>
            <a:r>
              <a:rPr lang="fr-FR" dirty="0" err="1"/>
              <a:t>emprunterLivre</a:t>
            </a:r>
            <a:r>
              <a:rPr lang="fr-FR" dirty="0"/>
              <a:t>, </a:t>
            </a:r>
            <a:r>
              <a:rPr lang="fr-FR" dirty="0" err="1"/>
              <a:t>retournerLivre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64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4.72222E-6 -9.87654E-7 L 0.00469 -0.85432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6" y="-427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build="p"/>
      <p:bldP spid="2" grpId="0"/>
      <p:bldP spid="4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228600" y="200160"/>
            <a:ext cx="5600520" cy="1018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r>
              <a:rPr lang="fr-FR" sz="3200" dirty="0"/>
              <a:t>Outils de développement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subTitle"/>
          </p:nvPr>
        </p:nvSpPr>
        <p:spPr>
          <a:xfrm>
            <a:off x="228600" y="1575522"/>
            <a:ext cx="5028840" cy="75089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fr-FR" sz="1800" dirty="0" err="1"/>
              <a:t>Intellij</a:t>
            </a:r>
            <a:r>
              <a:rPr lang="fr-FR" sz="1800" dirty="0"/>
              <a:t> </a:t>
            </a:r>
            <a:r>
              <a:rPr lang="fr-FR" sz="1800" dirty="0" err="1"/>
              <a:t>idea</a:t>
            </a:r>
            <a:endParaRPr lang="fr-FR" sz="1800" dirty="0"/>
          </a:p>
        </p:txBody>
      </p:sp>
      <p:cxnSp>
        <p:nvCxnSpPr>
          <p:cNvPr id="81" name="Google Shape;326;p37"/>
          <p:cNvCxnSpPr/>
          <p:nvPr/>
        </p:nvCxnSpPr>
        <p:spPr>
          <a:xfrm flipH="1">
            <a:off x="0" y="1366920"/>
            <a:ext cx="917424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  <p:pic>
        <p:nvPicPr>
          <p:cNvPr id="82" name="Google Shape;327;p37"/>
          <p:cNvPicPr/>
          <p:nvPr/>
        </p:nvPicPr>
        <p:blipFill>
          <a:blip r:embed="rId2"/>
          <a:srcRect l="32990" r="32995"/>
          <a:stretch/>
        </p:blipFill>
        <p:spPr>
          <a:xfrm>
            <a:off x="6014880" y="-12960"/>
            <a:ext cx="3128760" cy="515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AutoShape 4">
            <a:extLst>
              <a:ext uri="{FF2B5EF4-FFF2-40B4-BE49-F238E27FC236}">
                <a16:creationId xmlns:a16="http://schemas.microsoft.com/office/drawing/2014/main" id="{D41481DF-4F6A-05C7-DDE4-A80FA693772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-2666820" y="2950319"/>
            <a:ext cx="2974080" cy="2974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2" name="PlaceHolder 2">
            <a:extLst>
              <a:ext uri="{FF2B5EF4-FFF2-40B4-BE49-F238E27FC236}">
                <a16:creationId xmlns:a16="http://schemas.microsoft.com/office/drawing/2014/main" id="{C75FD216-B206-70F1-E11E-7B96FF0C29D2}"/>
              </a:ext>
            </a:extLst>
          </p:cNvPr>
          <p:cNvSpPr txBox="1">
            <a:spLocks/>
          </p:cNvSpPr>
          <p:nvPr/>
        </p:nvSpPr>
        <p:spPr>
          <a:xfrm>
            <a:off x="228600" y="2441639"/>
            <a:ext cx="5028840" cy="75089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fr-FR" sz="1800" dirty="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fr-FR" sz="1800" dirty="0" err="1"/>
              <a:t>postgresql</a:t>
            </a:r>
            <a:endParaRPr lang="fr-FR" sz="18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7033D0F-D11D-8D41-F067-2E55347EE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425" y="1816274"/>
            <a:ext cx="683699" cy="62860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C52E9F4-8DAD-D22E-7517-E083C57205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1523" y="3652469"/>
            <a:ext cx="667890" cy="628603"/>
          </a:xfrm>
          <a:prstGeom prst="rect">
            <a:avLst/>
          </a:prstGeom>
        </p:spPr>
      </p:pic>
      <p:sp>
        <p:nvSpPr>
          <p:cNvPr id="12" name="PlaceHolder 2">
            <a:extLst>
              <a:ext uri="{FF2B5EF4-FFF2-40B4-BE49-F238E27FC236}">
                <a16:creationId xmlns:a16="http://schemas.microsoft.com/office/drawing/2014/main" id="{C75FD216-B206-70F1-E11E-7B96FF0C29D2}"/>
              </a:ext>
            </a:extLst>
          </p:cNvPr>
          <p:cNvSpPr txBox="1">
            <a:spLocks/>
          </p:cNvSpPr>
          <p:nvPr/>
        </p:nvSpPr>
        <p:spPr>
          <a:xfrm>
            <a:off x="130147" y="3433446"/>
            <a:ext cx="5028840" cy="75089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endParaRPr lang="fr-FR" sz="1800" dirty="0"/>
          </a:p>
          <a:p>
            <a:pPr>
              <a:lnSpc>
                <a:spcPct val="170000"/>
              </a:lnSpc>
              <a:buFont typeface="Arial" panose="020B0604020202020204" pitchFamily="34" charset="0"/>
              <a:buChar char="•"/>
            </a:pPr>
            <a:r>
              <a:rPr lang="fr-FR" sz="1800" dirty="0" err="1"/>
              <a:t>github</a:t>
            </a:r>
            <a:endParaRPr lang="fr-FR" sz="180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C52E9F4-8DAD-D22E-7517-E083C57205B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986" r="12417"/>
          <a:stretch>
            <a:fillRect/>
          </a:stretch>
        </p:blipFill>
        <p:spPr>
          <a:xfrm>
            <a:off x="4078746" y="2679538"/>
            <a:ext cx="683699" cy="62860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" grpId="0" build="p"/>
      <p:bldP spid="2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28600" y="4359584"/>
            <a:ext cx="621936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000" b="0" u="none" strike="noStrike" noProof="0" dirty="0">
                <a:solidFill>
                  <a:schemeClr val="dk1"/>
                </a:solidFill>
                <a:effectLst/>
                <a:uFillTx/>
                <a:latin typeface="Roboto Condensed"/>
                <a:ea typeface="Roboto Condensed"/>
              </a:rPr>
              <a:t>Conclusion </a:t>
            </a:r>
            <a:endParaRPr lang="fr-FR" sz="3000" b="0" u="none" strike="noStrike" noProof="0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ubTitle"/>
          </p:nvPr>
        </p:nvSpPr>
        <p:spPr>
          <a:xfrm>
            <a:off x="3254031" y="319081"/>
            <a:ext cx="4990680" cy="309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résumé, ce projet montre que </a:t>
            </a:r>
            <a:r>
              <a:rPr lang="fr-FR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GraphQL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alternative moderne et flexible à </a:t>
            </a:r>
            <a:r>
              <a:rPr lang="fr-F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adaptée aux applications nécessitant des requêtes précises et des données fortement liées, tout en restant simple à maintenir et à étendre.</a:t>
            </a:r>
            <a:endParaRPr lang="fr-FR" sz="1800" b="0" u="none" strike="noStrike" noProof="0" dirty="0"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8" name="Google Shape;258;p31"/>
          <p:cNvCxnSpPr/>
          <p:nvPr/>
        </p:nvCxnSpPr>
        <p:spPr>
          <a:xfrm>
            <a:off x="-80280" y="4214160"/>
            <a:ext cx="9253080" cy="360"/>
          </a:xfrm>
          <a:prstGeom prst="straightConnector1">
            <a:avLst/>
          </a:prstGeom>
          <a:ln w="9525">
            <a:solidFill>
              <a:srgbClr val="020603"/>
            </a:solidFill>
            <a:round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2BF1A4-42A1-8D6C-6A43-3ED69B7CE42C}"/>
              </a:ext>
            </a:extLst>
          </p:cNvPr>
          <p:cNvSpPr/>
          <p:nvPr/>
        </p:nvSpPr>
        <p:spPr>
          <a:xfrm>
            <a:off x="5212080" y="255240"/>
            <a:ext cx="3703320" cy="2316510"/>
          </a:xfrm>
          <a:prstGeom prst="rect">
            <a:avLst/>
          </a:prstGeom>
          <a:solidFill>
            <a:srgbClr val="F4F1E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5AFA40-89AA-7E65-A1CD-9A41F0E80546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2">
            <a:extLst>
              <a:ext uri="{FF2B5EF4-FFF2-40B4-BE49-F238E27FC236}">
                <a16:creationId xmlns:a16="http://schemas.microsoft.com/office/drawing/2014/main" id="{A15447BA-BA8E-6F4B-696C-23661EBA0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9660" y="1931640"/>
            <a:ext cx="8244840" cy="1946880"/>
          </a:xfrm>
        </p:spPr>
        <p:txBody>
          <a:bodyPr/>
          <a:lstStyle/>
          <a:p>
            <a:r>
              <a:rPr lang="fr-FR" dirty="0"/>
              <a:t>Merci pour votre attention 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Teacher Onboarding for Schools by Slidesgo">
  <a:themeElements>
    <a:clrScheme name="Simple Light">
      <a:dk1>
        <a:srgbClr val="020603"/>
      </a:dk1>
      <a:lt1>
        <a:srgbClr val="F4F1EC"/>
      </a:lt1>
      <a:dk2>
        <a:srgbClr val="020603"/>
      </a:dk2>
      <a:lt2>
        <a:srgbClr val="B5C6BC"/>
      </a:lt2>
      <a:accent1>
        <a:srgbClr val="FC7D80"/>
      </a:accent1>
      <a:accent2>
        <a:srgbClr val="AAA9A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20603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2783</TotalTime>
  <Words>549</Words>
  <Application>Microsoft Office PowerPoint</Application>
  <PresentationFormat>Affichage à l'écran (16:9)</PresentationFormat>
  <Paragraphs>68</Paragraphs>
  <Slides>12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12</vt:i4>
      </vt:variant>
    </vt:vector>
  </HeadingPairs>
  <TitlesOfParts>
    <vt:vector size="25" baseType="lpstr">
      <vt:lpstr>Arial</vt:lpstr>
      <vt:lpstr>Calibri</vt:lpstr>
      <vt:lpstr>Nunito</vt:lpstr>
      <vt:lpstr>Nunito Bold</vt:lpstr>
      <vt:lpstr>OpenSymbol</vt:lpstr>
      <vt:lpstr>Palatino Linotype</vt:lpstr>
      <vt:lpstr>Playfair Display</vt:lpstr>
      <vt:lpstr>Roboto Condensed</vt:lpstr>
      <vt:lpstr>Symbol</vt:lpstr>
      <vt:lpstr>Times New Roman</vt:lpstr>
      <vt:lpstr>Wingdings</vt:lpstr>
      <vt:lpstr>Teacher Onboarding for Schools by Slidesgo</vt:lpstr>
      <vt:lpstr>Slidesgo Final Pages</vt:lpstr>
      <vt:lpstr>Spring Boot + GraphQL</vt:lpstr>
      <vt:lpstr>Présentation PowerPoint</vt:lpstr>
      <vt:lpstr>Introduction</vt:lpstr>
      <vt:lpstr>Limites de REST</vt:lpstr>
      <vt:lpstr>GraphQL</vt:lpstr>
      <vt:lpstr>Le Schéma</vt:lpstr>
      <vt:lpstr>Les Queries</vt:lpstr>
      <vt:lpstr>les Resolvers</vt:lpstr>
      <vt:lpstr>Projet : LibraryGraphql – API Bibliothèque complète</vt:lpstr>
      <vt:lpstr>Outils de développement</vt:lpstr>
      <vt:lpstr>Conclusion </vt:lpstr>
      <vt:lpstr>Merci pour votre attention 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+ GraphQL</dc:title>
  <cp:lastModifiedBy>med</cp:lastModifiedBy>
  <cp:revision>9</cp:revision>
  <dcterms:modified xsi:type="dcterms:W3CDTF">2025-11-23T10:54:15Z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2025-11-19T19:20:42Z</dcterms:created>
  <dc:creator>Unknown Creator</dc:creator>
  <dc:description/>
  <dc:language>en-US</dc:language>
  <cp:lastModifiedBy>Unknown Creator</cp:lastModifiedBy>
  <dcterms:modified xsi:type="dcterms:W3CDTF">2025-11-19T19:20:42Z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